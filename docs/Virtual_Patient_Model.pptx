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731520"/>
            <a:ext cx="2011680" cy="2011680"/>
          </a:xfrm>
          <a:prstGeom prst="ellipse">
            <a:avLst/>
          </a:prstGeom>
          <a:solidFill>
            <a:srgbClr val="375BD7"/>
          </a:solidFill>
          <a:ln>
            <a:solidFill>
              <a:srgbClr val="37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1645920"/>
            <a:ext cx="1508760" cy="1508760"/>
          </a:xfrm>
          <a:prstGeom prst="ellipse">
            <a:avLst/>
          </a:prstGeom>
          <a:solidFill>
            <a:srgbClr val="1B99A0"/>
          </a:solidFill>
          <a:ln>
            <a:solidFill>
              <a:srgbClr val="1B9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2743200"/>
            <a:ext cx="2468880" cy="2468880"/>
          </a:xfrm>
          <a:prstGeom prst="ellipse">
            <a:avLst/>
          </a:prstGeom>
          <a:solidFill>
            <a:srgbClr val="233068"/>
          </a:solidFill>
          <a:ln>
            <a:solidFill>
              <a:srgbClr val="233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46920" y="3840480"/>
            <a:ext cx="1143000" cy="1143000"/>
          </a:xfrm>
          <a:prstGeom prst="ellipse">
            <a:avLst/>
          </a:prstGeom>
          <a:solidFill>
            <a:srgbClr val="2BC2C9"/>
          </a:solidFill>
          <a:ln>
            <a:solidFill>
              <a:srgbClr val="2B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41080" y="1600200"/>
            <a:ext cx="658368" cy="658368"/>
          </a:xfrm>
          <a:prstGeom prst="ellipse">
            <a:avLst/>
          </a:prstGeom>
          <a:solidFill>
            <a:srgbClr val="2BC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39327" y="2304288"/>
            <a:ext cx="1261872" cy="1417320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458200" y="2971800"/>
            <a:ext cx="27432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732520" y="2724912"/>
            <a:ext cx="155448" cy="246888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87968" y="2724912"/>
            <a:ext cx="182880" cy="521208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070848" y="2862072"/>
            <a:ext cx="182880" cy="384048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53728" y="2862072"/>
            <a:ext cx="201168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594360"/>
            <a:ext cx="6400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C2C9"/>
                </a:solidFill>
                <a:latin typeface="Aptos"/>
              </a:rPr>
              <a:t>HAPPIEST HEALTH  |  DIGITAL TWIN CHALLENGE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371600"/>
            <a:ext cx="66751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VIRTUAL
PATIENT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52928"/>
            <a:ext cx="60350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2DCFA"/>
                </a:solidFill>
                <a:latin typeface="Aptos"/>
              </a:rPr>
              <a:t>An AI-powered digital patient profile for multiple health-risk predictions.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2926080" cy="502920"/>
          </a:xfrm>
          <a:prstGeom prst="roundRect">
            <a:avLst/>
          </a:prstGeom>
          <a:solidFill>
            <a:srgbClr val="1F2E63"/>
          </a:solidFill>
          <a:ln>
            <a:solidFill>
              <a:srgbClr val="1F2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014215"/>
            <a:ext cx="287121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166360"/>
            <a:ext cx="36576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 i="0" dirty="0">
                <a:solidFill>
                  <a:srgbClr val="FFFFFF"/>
                </a:solidFill>
                <a:latin typeface="Aptos"/>
              </a:rPr>
              <a:t>Team: [</a:t>
            </a:r>
            <a:r>
              <a:rPr lang="en-US" sz="13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IN" sz="1300" b="1" dirty="0" err="1">
                <a:solidFill>
                  <a:schemeClr val="bg1"/>
                </a:solidFill>
                <a:latin typeface="Aptos" panose="020B0004020202020204" pitchFamily="34" charset="0"/>
              </a:rPr>
              <a:t>HealthSync</a:t>
            </a:r>
            <a:r>
              <a:rPr lang="en-IN" sz="1300" b="1" dirty="0">
                <a:solidFill>
                  <a:schemeClr val="bg1"/>
                </a:solidFill>
                <a:latin typeface="Aptos" panose="020B0004020202020204" pitchFamily="34" charset="0"/>
              </a:rPr>
              <a:t> AI 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32120"/>
            <a:ext cx="50292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BECBEE"/>
                </a:solidFill>
                <a:latin typeface="Aptos"/>
              </a:rPr>
              <a:t>College : [A</a:t>
            </a:r>
            <a:r>
              <a:rPr lang="en-US" sz="1200" b="0" i="0" dirty="0">
                <a:solidFill>
                  <a:srgbClr val="BECBEE"/>
                </a:solidFill>
                <a:latin typeface="Aptos"/>
              </a:rPr>
              <a:t>ISSMS </a:t>
            </a:r>
            <a:r>
              <a:rPr lang="en-US" sz="1200" b="0" i="0" dirty="0" err="1">
                <a:solidFill>
                  <a:srgbClr val="BECBEE"/>
                </a:solidFill>
                <a:latin typeface="Aptos"/>
              </a:rPr>
              <a:t>Collge</a:t>
            </a:r>
            <a:r>
              <a:rPr lang="en-US" sz="1200" b="0" i="0" dirty="0">
                <a:solidFill>
                  <a:srgbClr val="BECBEE"/>
                </a:solidFill>
                <a:latin typeface="Aptos"/>
              </a:rPr>
              <a:t> Of </a:t>
            </a:r>
            <a:r>
              <a:rPr lang="en-US" sz="1200" b="0" i="0" dirty="0" err="1">
                <a:solidFill>
                  <a:srgbClr val="BECBEE"/>
                </a:solidFill>
                <a:latin typeface="Aptos"/>
              </a:rPr>
              <a:t>Engeeniring</a:t>
            </a:r>
            <a:r>
              <a:rPr lang="en-US" sz="1200" b="0" i="0" dirty="0">
                <a:solidFill>
                  <a:srgbClr val="BECBEE"/>
                </a:solidFill>
                <a:latin typeface="Aptos"/>
              </a:rPr>
              <a:t> Pune</a:t>
            </a:r>
            <a:r>
              <a:rPr sz="1200" b="0" i="0" dirty="0">
                <a:solidFill>
                  <a:srgbClr val="BECBEE"/>
                </a:solidFill>
                <a:latin typeface="Aptos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An AI-powered virtual patient model integrates available health data and predicts multiple supported health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1673351"/>
            <a:ext cx="73152" cy="1499616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39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01  Integrate health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299008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Combine available patient information, medical records and relevant health measurements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5087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62272" y="1673351"/>
            <a:ext cx="73152" cy="149961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2584" y="1691639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02  Build a patient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130552"/>
            <a:ext cx="299008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Organize available health information into a structured digital patient profile.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5087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29016" y="1673351"/>
            <a:ext cx="73152" cy="149961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691639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03  Predict multiple risks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130552"/>
            <a:ext cx="2990088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Use the working Python ML model to analyse patient data and return predictions for multiple supported health risks.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86200"/>
            <a:ext cx="10652760" cy="1325880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133087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75BD7"/>
                </a:solidFill>
                <a:latin typeface="Aptos"/>
              </a:rPr>
              <a:t>CORE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98848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1B43"/>
                </a:solidFill>
                <a:latin typeface="Aptos"/>
              </a:rPr>
              <a:t>Transform scattered patient data into one digital profile for AI-powered health-risk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Patient information may be scattered across records, visits and health-measurement 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673351"/>
            <a:ext cx="73152" cy="1728216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691639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Fragmented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130552"/>
            <a:ext cx="2944368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5718E"/>
                </a:solidFill>
                <a:latin typeface="Aptos"/>
              </a:rPr>
              <a:t>Reviewing separate sources can make it harder to understand a patient's available health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7992" y="1673351"/>
            <a:ext cx="73152" cy="172821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8304" y="1691639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Limited forward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130552"/>
            <a:ext cx="2944368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5718E"/>
                </a:solidFill>
                <a:latin typeface="Aptos"/>
              </a:rPr>
              <a:t>Individual measurements may not reveal patterns across the available patient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5087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65592" y="1673351"/>
            <a:ext cx="73152" cy="172821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91639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Hard to track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130552"/>
            <a:ext cx="2944368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5718E"/>
                </a:solidFill>
                <a:latin typeface="Aptos"/>
              </a:rPr>
              <a:t>Health indicators and medical history can be difficult to review when they are not organized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69080"/>
            <a:ext cx="10287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21B43"/>
                </a:solidFill>
                <a:latin typeface="Aptos"/>
              </a:rPr>
              <a:t>Opportunity: organize available patient data and use the working ML model to generate multiple-risk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440680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75BD7"/>
                </a:solidFill>
                <a:latin typeface="Aptos"/>
              </a:rPr>
              <a:t>Project focus: available patient data → structured digital profile → multiple health-risk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A web application that connects a Java backend, MySQL database and Python ML prediction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2148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27048" y="1554480"/>
            <a:ext cx="640080" cy="640080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563624"/>
            <a:ext cx="6400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Patient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52928"/>
            <a:ext cx="181051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Available patient data and health indicators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3512" y="2880360"/>
            <a:ext cx="585216" cy="0"/>
          </a:xfrm>
          <a:prstGeom prst="line">
            <a:avLst/>
          </a:prstGeom>
          <a:ln w="2540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11880" y="1965960"/>
            <a:ext cx="2148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61688" y="1554480"/>
            <a:ext cx="640080" cy="640080"/>
          </a:xfrm>
          <a:prstGeom prst="ellipse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563624"/>
            <a:ext cx="6400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423160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Digital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852928"/>
            <a:ext cx="181051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Structured patient profile and available health information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88152" y="2880360"/>
            <a:ext cx="585216" cy="0"/>
          </a:xfrm>
          <a:prstGeom prst="line">
            <a:avLst/>
          </a:prstGeom>
          <a:ln w="2540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46520" y="1965960"/>
            <a:ext cx="2148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96328" y="1554480"/>
            <a:ext cx="640080" cy="640080"/>
          </a:xfrm>
          <a:prstGeom prst="ellipse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96328" y="1563624"/>
            <a:ext cx="6400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23160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ML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852928"/>
            <a:ext cx="181051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Working Python ML model analyses prepared input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22792" y="2880360"/>
            <a:ext cx="585216" cy="0"/>
          </a:xfrm>
          <a:prstGeom prst="line">
            <a:avLst/>
          </a:prstGeom>
          <a:ln w="2540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81160" y="1965960"/>
            <a:ext cx="2148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30968" y="1554480"/>
            <a:ext cx="640080" cy="640080"/>
          </a:xfrm>
          <a:prstGeom prst="ellipse">
            <a:avLst/>
          </a:prstGeom>
          <a:solidFill>
            <a:srgbClr val="705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30968" y="1563624"/>
            <a:ext cx="6400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423160"/>
            <a:ext cx="187451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Insight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852928"/>
            <a:ext cx="181051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Multiple supported risk predictions and result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434840"/>
            <a:ext cx="10195560" cy="822960"/>
          </a:xfrm>
          <a:prstGeom prst="roundRect">
            <a:avLst/>
          </a:prstGeom>
          <a:solidFill>
            <a:srgbClr val="DCF9F6"/>
          </a:solidFill>
          <a:ln>
            <a:solidFill>
              <a:srgbClr val="DC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" y="4663440"/>
            <a:ext cx="9646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99A0"/>
                </a:solidFill>
                <a:latin typeface="Aptos"/>
              </a:rPr>
              <a:t>The prototype brings patient information and ML prediction results into one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Healthcare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Example workflow showing how patient information is processed to return multiple supported health-risk predictions.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673351"/>
            <a:ext cx="73152" cy="3008376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1 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30552"/>
            <a:ext cx="2898648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• Select or create a patient profile
• Add relevant history and measurements
• Enter or select available health measurements
• Check completeness and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1673351"/>
            <a:ext cx="73152" cy="300837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2 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30552"/>
            <a:ext cx="2898648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• Validate input fields
• Send prepared patient features to the Python ML model
• Receive predictions for supported health risks
• Store records and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80" y="1673351"/>
            <a:ext cx="73152" cy="300837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3 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30552"/>
            <a:ext cx="2898648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• Display current patient summary
• Display the returned risk predictions with context
• Surface trends and missing data
• Support clinician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Safety principle: predictions are informational decision support, not a diagnosis or emergency-care substitute.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System architecture for the implemented web and ML prediction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61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536192"/>
            <a:ext cx="109728" cy="603504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1536192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FRONTEND  •  HTML + CSS +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4709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Patient data entry, dashboard and prediction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42032"/>
            <a:ext cx="10561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" y="2660903"/>
            <a:ext cx="109728" cy="603504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2660903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BACKEND  •  Java + 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06624"/>
            <a:ext cx="4709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REST API, input validation and ML-service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66744"/>
            <a:ext cx="10561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3785615"/>
            <a:ext cx="109728" cy="603504"/>
          </a:xfrm>
          <a:prstGeom prst="roundRect">
            <a:avLst/>
          </a:prstGeom>
          <a:solidFill>
            <a:srgbClr val="705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3785615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AI / PREDICTION  •  Python ML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31335"/>
            <a:ext cx="4709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Feature preparation, multiple-risk inference and prediction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91456"/>
            <a:ext cx="10561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2688" y="4910328"/>
            <a:ext cx="109728" cy="603504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07008" y="4910328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DATABASE  •  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956048"/>
            <a:ext cx="4709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Patient profiles, available health indicators and prediction results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267712"/>
            <a:ext cx="0" cy="22860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392424"/>
            <a:ext cx="0" cy="22860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4517136"/>
            <a:ext cx="0" cy="22860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5718E"/>
                </a:solidFill>
                <a:latin typeface="Aptos"/>
              </a:rPr>
              <a:t>Architecture flow: Frontend ⇄ Spring Boot API ⇄ Python ML service; Spring Boot accesses MySQL. Keep only connections implemented in the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The diagram shows the request/response flow for the multiple-risk prediction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08483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1508760"/>
            <a:ext cx="594360" cy="594360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17904"/>
            <a:ext cx="594360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31720"/>
            <a:ext cx="18653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User enters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8653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Web UI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2697480"/>
            <a:ext cx="164592" cy="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1920240"/>
            <a:ext cx="208483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508760"/>
            <a:ext cx="594360" cy="594360"/>
          </a:xfrm>
          <a:prstGeom prst="ellipse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517904"/>
            <a:ext cx="594360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331720"/>
            <a:ext cx="18653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API validates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2816352"/>
            <a:ext cx="18653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Spring Boot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56048" y="2697480"/>
            <a:ext cx="164592" cy="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38928" y="1920240"/>
            <a:ext cx="208483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52160" y="1508760"/>
            <a:ext cx="594360" cy="594360"/>
          </a:xfrm>
          <a:prstGeom prst="ellipse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1517904"/>
            <a:ext cx="594360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331720"/>
            <a:ext cx="18653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Save / 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2816352"/>
            <a:ext cx="18653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MySQL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2697480"/>
            <a:ext cx="164592" cy="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24927" y="1920240"/>
            <a:ext cx="208483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38159" y="1508760"/>
            <a:ext cx="594360" cy="594360"/>
          </a:xfrm>
          <a:prstGeom prst="ellipse">
            <a:avLst/>
          </a:prstGeom>
          <a:solidFill>
            <a:srgbClr val="705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59" y="1517904"/>
            <a:ext cx="594360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5" y="2331720"/>
            <a:ext cx="18653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Request risk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5" y="2816352"/>
            <a:ext cx="18653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Python ML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28047" y="2697480"/>
            <a:ext cx="164593" cy="0"/>
          </a:xfrm>
          <a:prstGeom prst="line">
            <a:avLst/>
          </a:prstGeom>
          <a:ln w="2159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10928" y="1920240"/>
            <a:ext cx="208483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424159" y="1508760"/>
            <a:ext cx="594360" cy="594360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59" y="1517904"/>
            <a:ext cx="594360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5" y="2331720"/>
            <a:ext cx="186537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Return predictions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5" y="2816352"/>
            <a:ext cx="18653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API + UI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160520"/>
            <a:ext cx="10332720" cy="1005840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20" y="4407408"/>
            <a:ext cx="97840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Handle invalid inputs or ML-service errors and show clear messages to the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AI / ML Prediction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The working ML model returns predictions for multiple supported health risks from prepared patient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35024" y="1444752"/>
            <a:ext cx="603504" cy="603504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5024" y="1453896"/>
            <a:ext cx="60350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6771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21B43"/>
                </a:solidFill>
                <a:latin typeface="Apto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162763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Model's actual training / test dataset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33472" y="2670048"/>
            <a:ext cx="274319" cy="0"/>
          </a:xfrm>
          <a:prstGeom prst="line">
            <a:avLst/>
          </a:prstGeom>
          <a:ln w="2032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62656" y="1874519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39312" y="1444752"/>
            <a:ext cx="603504" cy="603504"/>
          </a:xfrm>
          <a:prstGeom prst="ellipse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1453896"/>
            <a:ext cx="60350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26771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21B43"/>
                </a:solidFill>
                <a:latin typeface="Aptos"/>
              </a:rPr>
              <a:t>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697480"/>
            <a:ext cx="162763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Clean, validate, engineer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37760" y="2670048"/>
            <a:ext cx="274320" cy="0"/>
          </a:xfrm>
          <a:prstGeom prst="line">
            <a:avLst/>
          </a:prstGeom>
          <a:ln w="2032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66944" y="1874519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0" y="1444752"/>
            <a:ext cx="603504" cy="603504"/>
          </a:xfrm>
          <a:prstGeom prst="ellipse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453896"/>
            <a:ext cx="60350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226771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21B43"/>
                </a:solidFill>
                <a:latin typeface="Aptos"/>
              </a:rP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2697480"/>
            <a:ext cx="162763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Trained ML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2670048"/>
            <a:ext cx="274319" cy="0"/>
          </a:xfrm>
          <a:prstGeom prst="line">
            <a:avLst/>
          </a:prstGeom>
          <a:ln w="2032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71232" y="1874519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47888" y="1444752"/>
            <a:ext cx="603504" cy="603504"/>
          </a:xfrm>
          <a:prstGeom prst="ellipse">
            <a:avLst/>
          </a:prstGeom>
          <a:solidFill>
            <a:srgbClr val="705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1453896"/>
            <a:ext cx="60350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26771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21B43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2697480"/>
            <a:ext cx="162763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Evaluate model on test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46336" y="2670048"/>
            <a:ext cx="274320" cy="0"/>
          </a:xfrm>
          <a:prstGeom prst="line">
            <a:avLst/>
          </a:prstGeom>
          <a:ln w="20320">
            <a:solidFill>
              <a:srgbClr val="375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75520" y="1874519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552176" y="1444752"/>
            <a:ext cx="603504" cy="603504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52176" y="1453896"/>
            <a:ext cx="60350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26771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21B43"/>
                </a:solidFill>
                <a:latin typeface="Aptos"/>
              </a:rPr>
              <a:t>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2697480"/>
            <a:ext cx="162763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Return predictions through the ML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069080"/>
            <a:ext cx="10561320" cy="1188720"/>
          </a:xfrm>
          <a:prstGeom prst="roundRect">
            <a:avLst/>
          </a:prstGeom>
          <a:solidFill>
            <a:srgbClr val="DCF9F6"/>
          </a:solidFill>
          <a:ln>
            <a:solidFill>
              <a:srgbClr val="DC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43159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99A0"/>
                </a:solidFill>
                <a:latin typeface="Aptos"/>
              </a:rPr>
              <a:t>MODEL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279392"/>
            <a:ext cx="81381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43"/>
                </a:solidFill>
                <a:latin typeface="Aptos"/>
              </a:rPr>
              <a:t>Prediction targets: multiple supported health risks  •  Model / dataset / metrics: add actual project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Prototype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Show screenshots of the working patient-data and multiple-risk prediction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16152"/>
            <a:ext cx="6903720" cy="463600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536192"/>
            <a:ext cx="6583680" cy="384048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65288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718E"/>
                </a:solidFill>
                <a:latin typeface="Aptos"/>
              </a:rPr>
              <a:t>●  ●  ●     Virtual Patient Model  /  Patient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1325880" cy="3520440"/>
          </a:xfrm>
          <a:prstGeom prst="roundRect">
            <a:avLst/>
          </a:prstGeom>
          <a:solidFill>
            <a:srgbClr val="121B43"/>
          </a:solidFill>
          <a:ln>
            <a:solidFill>
              <a:srgbClr val="121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304288"/>
            <a:ext cx="1005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2DCFA"/>
                </a:solidFill>
                <a:latin typeface="Aptos"/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39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D2DCFA"/>
                </a:solidFill>
                <a:latin typeface="Aptos"/>
              </a:rPr>
              <a:t>Measurements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D2DCFA"/>
                </a:solidFill>
                <a:latin typeface="Aptos"/>
              </a:rPr>
              <a:t>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D2DCFA"/>
                </a:solidFill>
                <a:latin typeface="Aptos"/>
              </a:rPr>
              <a:t>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2121408"/>
            <a:ext cx="1508760" cy="841248"/>
          </a:xfrm>
          <a:prstGeom prst="roundRect">
            <a:avLst/>
          </a:prstGeom>
          <a:solidFill>
            <a:srgbClr val="F8FA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87168" y="2258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1B43"/>
                </a:solidFill>
                <a:latin typeface="Aptos"/>
              </a:rP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2560320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[demo data]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121408"/>
            <a:ext cx="1508760" cy="841248"/>
          </a:xfrm>
          <a:prstGeom prst="roundRect">
            <a:avLst/>
          </a:prstGeom>
          <a:solidFill>
            <a:srgbClr val="F8FA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87952" y="2258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1B43"/>
                </a:solidFill>
                <a:latin typeface="Aptos"/>
              </a:rPr>
              <a:t>Vitals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2560320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[demo data]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7296" y="2121408"/>
            <a:ext cx="1417320" cy="841248"/>
          </a:xfrm>
          <a:prstGeom prst="roundRect">
            <a:avLst/>
          </a:prstGeom>
          <a:solidFill>
            <a:srgbClr val="F8FA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2258568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1B43"/>
                </a:solidFill>
                <a:latin typeface="Aptos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8736" y="2560320"/>
            <a:ext cx="12344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[demo data]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3218688"/>
            <a:ext cx="4818888" cy="960120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43"/>
                </a:solidFill>
                <a:latin typeface="Aptos"/>
              </a:rPr>
              <a:t>Prediction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749039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5718E"/>
                </a:solidFill>
                <a:latin typeface="Aptos"/>
              </a:rPr>
              <a:t>[Insert actual predictions returned by your ML model]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95728" y="4407408"/>
            <a:ext cx="481888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87168" y="4599432"/>
            <a:ext cx="450799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21B43"/>
                </a:solidFill>
                <a:latin typeface="Aptos"/>
              </a:rPr>
              <a:t>Patient timeline / trends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5001768"/>
            <a:ext cx="164592" cy="164592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27248" y="4846320"/>
            <a:ext cx="164592" cy="320040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02736" y="4928616"/>
            <a:ext cx="164592" cy="237744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78224" y="4709160"/>
            <a:ext cx="164592" cy="457200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53712" y="4782312"/>
            <a:ext cx="164592" cy="384048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0" y="4590288"/>
            <a:ext cx="164592" cy="576072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04688" y="4727448"/>
            <a:ext cx="164592" cy="438912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80176" y="4507992"/>
            <a:ext cx="164592" cy="658368"/>
          </a:xfrm>
          <a:prstGeom prst="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0956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46720" y="1673351"/>
            <a:ext cx="73152" cy="813816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57032" y="1691639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Demo sequence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2" y="2130552"/>
            <a:ext cx="294436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5718E"/>
                </a:solidFill>
                <a:latin typeface="Aptos"/>
              </a:rPr>
              <a:t>1. Open patient profile
2. Enter/select 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0956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46720" y="3044952"/>
            <a:ext cx="73152" cy="81381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57032" y="3063240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Show the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2" y="3502152"/>
            <a:ext cx="294436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5718E"/>
                </a:solidFill>
                <a:latin typeface="Aptos"/>
              </a:rPr>
              <a:t>3. Run prediction
4. Explain displayed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4251960"/>
            <a:ext cx="3474720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046720" y="4416552"/>
            <a:ext cx="73152" cy="81381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57032" y="4434840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Show real 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7032" y="4873752"/>
            <a:ext cx="294436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>
                <a:solidFill>
                  <a:srgbClr val="65718E"/>
                </a:solidFill>
                <a:latin typeface="Aptos"/>
              </a:rPr>
              <a:t>Insert screenshots from the working prototype; label sample or synthetic data clearly.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Privacy, Safety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Patient data and ML predictions require careful handling, even in a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087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1673351"/>
            <a:ext cx="73152" cy="1636776"/>
          </a:xfrm>
          <a:prstGeom prst="roundRect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Data minimisation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2898648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Collect only fields needed for the use case. Prefer synthetic or de-identified data for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1673351"/>
            <a:ext cx="73152" cy="163677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Access &amp;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30552"/>
            <a:ext cx="2898648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Use appropriate access control, secure secrets, and protect data in transit and at 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5087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65592" y="1673351"/>
            <a:ext cx="73152" cy="163677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9163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Human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130552"/>
            <a:ext cx="2898648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Explain model limitations. Predictions must not be presented as a diagnosis or guaranteed outcome.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10241280" cy="1005840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251960"/>
            <a:ext cx="9601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Validation, consent, data governance, and clinical review are essential before real-world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Expected Impact &amp; 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Describe what the working prototype does and distinguish it from future clinical benefits.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08760"/>
            <a:ext cx="50749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1673351"/>
            <a:ext cx="73152" cy="2871216"/>
          </a:xfrm>
          <a:prstGeom prst="roundRect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39"/>
            <a:ext cx="4572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Potential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4544568" cy="2450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5718E"/>
                </a:solidFill>
                <a:latin typeface="Aptos"/>
              </a:rPr>
              <a:t>• Organize available patient information in one view
• Generate multiple supported health-risk predictions
• Display ML prediction results in a structured interface
• Provide a foundation for future patient-monitoring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0749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673351"/>
            <a:ext cx="73152" cy="2871216"/>
          </a:xfrm>
          <a:prstGeom prst="roundRect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91639"/>
            <a:ext cx="4572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B43"/>
                </a:solidFill>
                <a:latin typeface="Aptos"/>
              </a:rPr>
              <a:t>Limitations to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130552"/>
            <a:ext cx="4544568" cy="2450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5718E"/>
                </a:solidFill>
                <a:latin typeface="Aptos"/>
              </a:rPr>
              <a:t>• Data quality and missing measurements
• Model generalisation and bias
• Need for clinical validation
• Integration and privacy requirements
• Prediction quality depends on the supported targets, dataset and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266944"/>
            <a:ext cx="9784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21B43"/>
                </a:solidFill>
                <a:latin typeface="Aptos"/>
              </a:rPr>
              <a:t>Add evidence: actual model outputs, evaluation metrics if measured, sample workflow and known limitations.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Next steps to validate and strengthen the working multiple-risk prediction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08760"/>
            <a:ext cx="566928" cy="566928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56692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4208" y="1417320"/>
            <a:ext cx="9555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1952" y="152704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75BD7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508760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B43"/>
                </a:solidFill>
                <a:latin typeface="Aptos"/>
              </a:rPr>
              <a:t>Demonstrate the working prediction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508760"/>
            <a:ext cx="4983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Real screenshots, multiple-risk outputs and known limitations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587752"/>
            <a:ext cx="566928" cy="566928"/>
          </a:xfrm>
          <a:prstGeom prst="ellipse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96896"/>
            <a:ext cx="56692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64208" y="2496312"/>
            <a:ext cx="9555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60604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99A0"/>
                </a:solidFill>
                <a:latin typeface="Aptos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87752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B43"/>
                </a:solidFill>
                <a:latin typeface="Aptos"/>
              </a:rPr>
              <a:t>Evaluate the 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587752"/>
            <a:ext cx="4983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Document dataset, supported risks, evaluation metrics and errors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666744"/>
            <a:ext cx="566928" cy="566928"/>
          </a:xfrm>
          <a:prstGeom prst="ellipse">
            <a:avLst/>
          </a:prstGeom>
          <a:solidFill>
            <a:srgbClr val="FF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75887"/>
            <a:ext cx="56692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4208" y="3575304"/>
            <a:ext cx="9555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01952" y="368503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7C6F"/>
                </a:solidFill>
                <a:latin typeface="Aptos"/>
              </a:rPr>
              <a:t>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666744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B43"/>
                </a:solidFill>
                <a:latin typeface="Aptos"/>
              </a:rPr>
              <a:t>Strengthen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666744"/>
            <a:ext cx="4983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API tests, logging, access control, input validation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745736"/>
            <a:ext cx="566928" cy="566928"/>
          </a:xfrm>
          <a:prstGeom prst="ellipse">
            <a:avLst/>
          </a:prstGeom>
          <a:solidFill>
            <a:srgbClr val="705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754879"/>
            <a:ext cx="56692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4208" y="4654296"/>
            <a:ext cx="9555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476402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05BCA"/>
                </a:solidFill>
                <a:latin typeface="Aptos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745736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B43"/>
                </a:solidFill>
                <a:latin typeface="Aptos"/>
              </a:rPr>
              <a:t>Evaluate usability and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745736"/>
            <a:ext cx="4983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18E"/>
                </a:solidFill>
                <a:latin typeface="Aptos"/>
              </a:rPr>
              <a:t>Expert feedback, privacy review, integration feasibility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7772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TEAM &amp; INSTITUTION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BEE"/>
                </a:solidFill>
                <a:latin typeface="Aptos"/>
              </a:rPr>
              <a:t>Add your final team and college details before submitting.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487168" cy="2148840"/>
          </a:xfrm>
          <a:prstGeom prst="roundRect">
            <a:avLst/>
          </a:prstGeom>
          <a:solidFill>
            <a:srgbClr val="1D2B5E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73352" y="2084831"/>
            <a:ext cx="658368" cy="658368"/>
          </a:xfrm>
          <a:prstGeom prst="ellipse">
            <a:avLst/>
          </a:prstGeom>
          <a:solidFill>
            <a:srgbClr val="37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73352" y="2093975"/>
            <a:ext cx="658368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210312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 dirty="0">
                <a:solidFill>
                  <a:srgbClr val="BECBEE"/>
                </a:solidFill>
                <a:latin typeface="Aptos"/>
              </a:rPr>
              <a:t>[</a:t>
            </a:r>
            <a:r>
              <a:rPr lang="en-US" sz="1100" b="0" i="0" dirty="0">
                <a:solidFill>
                  <a:srgbClr val="BECBEE"/>
                </a:solidFill>
                <a:latin typeface="Aptos"/>
              </a:rPr>
              <a:t>Pranav Anil Pawar</a:t>
            </a:r>
            <a:r>
              <a:rPr sz="1100" b="0" i="0" dirty="0">
                <a:solidFill>
                  <a:srgbClr val="BECBEE"/>
                </a:solidFill>
                <a:latin typeface="Aptos"/>
              </a:rPr>
              <a:t>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487168" cy="2148840"/>
          </a:xfrm>
          <a:prstGeom prst="roundRect">
            <a:avLst/>
          </a:prstGeom>
          <a:solidFill>
            <a:srgbClr val="1D2B5E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07992" y="2084831"/>
            <a:ext cx="658368" cy="658368"/>
          </a:xfrm>
          <a:prstGeom prst="ellipse">
            <a:avLst/>
          </a:prstGeom>
          <a:solidFill>
            <a:srgbClr val="1B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093975"/>
            <a:ext cx="658368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2608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210312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100" dirty="0">
                <a:solidFill>
                  <a:srgbClr val="BECBEE"/>
                </a:solidFill>
                <a:latin typeface="Aptos"/>
              </a:rPr>
              <a:t>[Shrushti Dattatray Kakade</a:t>
            </a:r>
            <a:r>
              <a:rPr sz="1100" b="0" i="0" dirty="0">
                <a:solidFill>
                  <a:srgbClr val="BECBEE"/>
                </a:solidFill>
                <a:latin typeface="Aptos"/>
              </a:rPr>
              <a:t>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1D2B5E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782312"/>
            <a:ext cx="9784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Aptos"/>
              </a:rPr>
              <a:t>College / Incubator: [A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ISSMS College Of </a:t>
            </a:r>
            <a:r>
              <a:rPr lang="en-US" sz="1600" b="1" i="0" dirty="0" err="1">
                <a:solidFill>
                  <a:srgbClr val="FFFFFF"/>
                </a:solidFill>
                <a:latin typeface="Aptos"/>
              </a:rPr>
              <a:t>Engeenering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 Pune 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0B1DC"/>
                </a:solidFill>
                <a:latin typeface="Aptos"/>
              </a:rPr>
              <a:t>Virtual Patient Model  •  Happiest Health Digital Twin Challenge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9692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1B43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5718E"/>
                </a:solidFill>
                <a:latin typeface="Aptos"/>
              </a:rPr>
              <a:t>Integrating patient information and generating multiple supported health-risk predictions.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47472"/>
            <a:ext cx="1234440" cy="310896"/>
          </a:xfrm>
          <a:prstGeom prst="roundRect">
            <a:avLst/>
          </a:prstGeom>
          <a:solidFill>
            <a:srgbClr val="F1F6FF"/>
          </a:solidFill>
          <a:ln>
            <a:solidFill>
              <a:srgbClr val="F1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5872" y="384048"/>
            <a:ext cx="1179576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75BD7"/>
                </a:solidFill>
                <a:latin typeface="Aptos"/>
              </a:rP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Happiest Health Digital Twin Challenge 2026  •  Virtual Patient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5718E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61320" cy="3383280"/>
          </a:xfrm>
          <a:prstGeom prst="roundRect">
            <a:avLst/>
          </a:prstGeom>
          <a:solidFill>
            <a:srgbClr val="121B43"/>
          </a:solidFill>
          <a:ln>
            <a:solidFill>
              <a:srgbClr val="121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95097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VIRTUAL PATIENT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9326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CFDEFF"/>
                </a:solidFill>
                <a:latin typeface="Aptos"/>
              </a:rPr>
              <a:t>Integrate data. Predict multiple risks. Support informed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886200"/>
            <a:ext cx="2880360" cy="502920"/>
          </a:xfrm>
          <a:prstGeom prst="roundRect">
            <a:avLst/>
          </a:prstGeom>
          <a:solidFill>
            <a:srgbClr val="1F2E63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89888" y="4032504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HTML / CSS / 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886200"/>
            <a:ext cx="2880360" cy="502920"/>
          </a:xfrm>
          <a:prstGeom prst="roundRect">
            <a:avLst/>
          </a:prstGeom>
          <a:solidFill>
            <a:srgbClr val="1F2E63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4032504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Java + 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19" y="3886200"/>
            <a:ext cx="2880360" cy="502920"/>
          </a:xfrm>
          <a:prstGeom prst="roundRect">
            <a:avLst/>
          </a:prstGeom>
          <a:solidFill>
            <a:srgbClr val="1F2E63"/>
          </a:solidFill>
          <a:ln>
            <a:solidFill>
              <a:srgbClr val="40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4032504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Python ML +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" y="5806440"/>
            <a:ext cx="102412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 dirty="0">
                <a:solidFill>
                  <a:srgbClr val="65718E"/>
                </a:solidFill>
                <a:latin typeface="Aptos"/>
              </a:rPr>
              <a:t>Contact: [</a:t>
            </a:r>
            <a:r>
              <a:rPr lang="en-US" sz="1100" dirty="0">
                <a:solidFill>
                  <a:srgbClr val="65718E"/>
                </a:solidFill>
                <a:latin typeface="Aptos"/>
              </a:rPr>
              <a:t>pawarpranav283@gmail.com/shrushtikakade1220@gmail.com</a:t>
            </a:r>
            <a:r>
              <a:rPr sz="1100" b="0" i="0" dirty="0">
                <a:solidFill>
                  <a:srgbClr val="65718E"/>
                </a:solidFill>
                <a:latin typeface="Aptos"/>
              </a:rPr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1299</Words>
  <Application>Microsoft Office PowerPoint</Application>
  <PresentationFormat>Widescreen</PresentationFormat>
  <Paragraphs>209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Pawar</cp:lastModifiedBy>
  <cp:revision>2</cp:revision>
  <dcterms:created xsi:type="dcterms:W3CDTF">2013-01-27T09:14:16Z</dcterms:created>
  <dcterms:modified xsi:type="dcterms:W3CDTF">2026-10-20T10:25:32Z</dcterms:modified>
  <cp:category/>
</cp:coreProperties>
</file>